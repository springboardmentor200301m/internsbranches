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68" r:id="rId5"/>
    <p:sldId id="310" r:id="rId6"/>
    <p:sldId id="311" r:id="rId7"/>
    <p:sldId id="312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91199-2B0D-4D43-B49F-7B0295577E43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B3C86-D7BF-41B9-8DF5-903F1F8EA4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64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project is a secure internal chatbot designed for organizations.</a:t>
            </a:r>
            <a:br>
              <a:rPr lang="en-US" dirty="0"/>
            </a:br>
            <a:r>
              <a:rPr lang="en-US" dirty="0"/>
              <a:t>Unlike normal chatbots, it doesn’t just answer questions — it strictly controls </a:t>
            </a:r>
            <a:r>
              <a:rPr lang="en-US" b="1" dirty="0"/>
              <a:t>who can see what</a:t>
            </a:r>
            <a:r>
              <a:rPr lang="en-US" dirty="0"/>
              <a:t>, based on role and department.</a:t>
            </a:r>
            <a:br>
              <a:rPr lang="en-US" dirty="0"/>
            </a:br>
            <a:r>
              <a:rPr lang="en-US" dirty="0"/>
              <a:t>The focus is not just AI intelligence, but </a:t>
            </a:r>
            <a:r>
              <a:rPr lang="en-US" b="1" dirty="0"/>
              <a:t>AI safety, access control, and real-world usability</a:t>
            </a:r>
            <a:r>
              <a:rPr lang="en-US" dirty="0"/>
              <a:t>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B3C86-D7BF-41B9-8DF5-903F1F8EA4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1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“At a high level, this is an internal company chatbot.</a:t>
            </a:r>
            <a:br>
              <a:rPr lang="en-US" dirty="0"/>
            </a:br>
            <a:r>
              <a:rPr lang="en-US" dirty="0"/>
              <a:t>Employees ask questions in natural language, and the system answers </a:t>
            </a:r>
            <a:r>
              <a:rPr lang="en-US" b="1" dirty="0"/>
              <a:t>only using authorized internal documents</a:t>
            </a:r>
            <a:r>
              <a:rPr lang="en-US" dirty="0"/>
              <a:t>.</a:t>
            </a:r>
          </a:p>
          <a:p>
            <a:r>
              <a:rPr lang="en-US" dirty="0"/>
              <a:t>What makes it different from a normal chatbot is that </a:t>
            </a:r>
            <a:r>
              <a:rPr lang="en-US" b="1" dirty="0"/>
              <a:t>every answer is filtered by role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 finance employee cannot see HR data.</a:t>
            </a:r>
            <a:br>
              <a:rPr lang="en-US" dirty="0"/>
            </a:br>
            <a:r>
              <a:rPr lang="en-US" dirty="0"/>
              <a:t>An employee cannot see leadership-level documents.</a:t>
            </a:r>
          </a:p>
          <a:p>
            <a:r>
              <a:rPr lang="en-US" dirty="0"/>
              <a:t>So the intelligence comes from AI, but the trust comes from architecture.”</a:t>
            </a:r>
          </a:p>
          <a:p>
            <a:r>
              <a:rPr lang="en-US" dirty="0"/>
              <a:t>Emphasize </a:t>
            </a:r>
            <a:r>
              <a:rPr lang="en-US" b="1" dirty="0"/>
              <a:t>trust + control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B3C86-D7BF-41B9-8DF5-903F1F8EA4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339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“Once the problem was clear, the objectives were very deliberate.</a:t>
            </a:r>
          </a:p>
          <a:p>
            <a:r>
              <a:rPr lang="en-US" dirty="0"/>
              <a:t>I didn’t want to build </a:t>
            </a:r>
            <a:r>
              <a:rPr lang="en-US" i="1" dirty="0"/>
              <a:t>another chatbot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 wanted to build a </a:t>
            </a:r>
            <a:r>
              <a:rPr lang="en-US" b="1" dirty="0"/>
              <a:t>company-grade assistant</a:t>
            </a:r>
            <a:r>
              <a:rPr lang="en-US" dirty="0"/>
              <a:t>.</a:t>
            </a:r>
          </a:p>
          <a:p>
            <a:r>
              <a:rPr lang="en-US" dirty="0"/>
              <a:t>Every answer should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grounded in real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permission-aware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traceable back to its source.</a:t>
            </a:r>
          </a:p>
          <a:p>
            <a:r>
              <a:rPr lang="en-US" dirty="0"/>
              <a:t>If an HR user asks a finance question — the system should say </a:t>
            </a:r>
            <a:r>
              <a:rPr lang="en-US" i="1" dirty="0"/>
              <a:t>no</a:t>
            </a:r>
            <a:r>
              <a:rPr lang="en-US" dirty="0"/>
              <a:t>, not hallucinate.”</a:t>
            </a:r>
          </a:p>
          <a:p>
            <a:r>
              <a:rPr lang="en-US" dirty="0"/>
              <a:t>That line lands well. Pause for effect.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B3C86-D7BF-41B9-8DF5-903F1F8EA49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749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“At a high level, the system is intentionally modular.</a:t>
            </a:r>
          </a:p>
          <a:p>
            <a:r>
              <a:rPr lang="en-US" dirty="0"/>
              <a:t>I separated concerns so that </a:t>
            </a:r>
            <a:r>
              <a:rPr lang="en-US" b="1" dirty="0"/>
              <a:t>security decisions are never mixed with language generation</a:t>
            </a:r>
            <a:r>
              <a:rPr lang="en-US" dirty="0"/>
              <a:t>.</a:t>
            </a:r>
          </a:p>
          <a:p>
            <a:r>
              <a:rPr lang="en-US" dirty="0"/>
              <a:t>The user never directly interacts with the documents or the model.</a:t>
            </a:r>
          </a:p>
          <a:p>
            <a:r>
              <a:rPr lang="en-US" dirty="0"/>
              <a:t>Every request flows through authentication, authorization, retrieval, and only then generation.</a:t>
            </a:r>
          </a:p>
          <a:p>
            <a:r>
              <a:rPr lang="en-US" dirty="0"/>
              <a:t>This makes the system easier to reason about, debug, and secure.”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B3C86-D7BF-41B9-8DF5-903F1F8EA49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5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/>
              <a:t>Company Internal Chatbot with RBAC</a:t>
            </a:r>
            <a:br>
              <a:rPr lang="en-US" sz="4400" dirty="0"/>
            </a:br>
            <a:r>
              <a:rPr lang="en-US" sz="4400" dirty="0"/>
              <a:t>Secure Retrieval-Augmented Generation System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 fontScale="55000" lnSpcReduction="20000"/>
          </a:bodyPr>
          <a:lstStyle/>
          <a:p>
            <a:r>
              <a:rPr lang="en-US" i="1" dirty="0"/>
              <a:t>Natural Language Processing | Information Retrieval | Security</a:t>
            </a:r>
            <a:endParaRPr lang="en-US" dirty="0"/>
          </a:p>
          <a:p>
            <a:r>
              <a:rPr lang="en-US" b="1" dirty="0"/>
              <a:t>Sai </a:t>
            </a:r>
            <a:r>
              <a:rPr lang="en-US" b="1" dirty="0" err="1"/>
              <a:t>kumar</a:t>
            </a:r>
            <a:r>
              <a:rPr lang="en-US" b="1" dirty="0"/>
              <a:t> </a:t>
            </a:r>
            <a:r>
              <a:rPr lang="en-US" b="1" dirty="0" err="1"/>
              <a:t>garlapati</a:t>
            </a:r>
            <a:br>
              <a:rPr lang="en-US" dirty="0"/>
            </a:br>
            <a:r>
              <a:rPr lang="en-US" dirty="0" err="1"/>
              <a:t>B.Tech</a:t>
            </a:r>
            <a:r>
              <a:rPr lang="en-US" dirty="0"/>
              <a:t> Computer Science Engineering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CF848-7679-787A-6542-14B919E4C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dirty="0"/>
            </a:br>
            <a:r>
              <a:rPr lang="en-US" dirty="0"/>
              <a:t>Organizations store critical information across documents, reports, and internal data sources, but accessing the </a:t>
            </a:r>
            <a:r>
              <a:rPr lang="en-US" i="1" dirty="0"/>
              <a:t>right</a:t>
            </a:r>
            <a:r>
              <a:rPr lang="en-US" dirty="0"/>
              <a:t> information securely using natural language remains difficult.</a:t>
            </a:r>
          </a:p>
          <a:p>
            <a:r>
              <a:rPr lang="en-US" b="1" dirty="0"/>
              <a:t>Solution</a:t>
            </a:r>
            <a:br>
              <a:rPr lang="en-US" dirty="0"/>
            </a:br>
            <a:r>
              <a:rPr lang="en-US" dirty="0"/>
              <a:t>A secure, role-aware AI chatbot that answers employee queries using internal company data while strictly enforcing access permissions.</a:t>
            </a:r>
          </a:p>
          <a:p>
            <a:r>
              <a:rPr lang="en-US" b="1" dirty="0"/>
              <a:t>Core Idea</a:t>
            </a:r>
            <a:br>
              <a:rPr lang="en-US" dirty="0"/>
            </a:br>
            <a:r>
              <a:rPr lang="en-US" dirty="0"/>
              <a:t>Retrieval-Augmented Generation (RAG) + Role-Based Access Control (RBAC)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3821-5BE7-C8D1-4138-A1703BCD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84758"/>
            <a:ext cx="10058400" cy="748452"/>
          </a:xfrm>
        </p:spPr>
        <p:txBody>
          <a:bodyPr>
            <a:normAutofit/>
          </a:bodyPr>
          <a:lstStyle/>
          <a:p>
            <a:r>
              <a:rPr lang="en-US" b="1" dirty="0"/>
              <a:t>Project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EE5BF-5489-DC1A-DD9E-EEFECDC18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</a:t>
            </a:r>
            <a:r>
              <a:rPr lang="en-US" b="1" dirty="0"/>
              <a:t>natural language access</a:t>
            </a:r>
            <a:r>
              <a:rPr lang="en-US" dirty="0"/>
              <a:t> to internal company 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 </a:t>
            </a:r>
            <a:r>
              <a:rPr lang="en-US" b="1" dirty="0"/>
              <a:t>strict role-based access control</a:t>
            </a:r>
            <a:r>
              <a:rPr lang="en-US" dirty="0"/>
              <a:t> across all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</a:t>
            </a:r>
            <a:r>
              <a:rPr lang="en-US" b="1" dirty="0"/>
              <a:t>information leakage</a:t>
            </a:r>
            <a:r>
              <a:rPr lang="en-US" dirty="0"/>
              <a:t> across 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</a:t>
            </a:r>
            <a:r>
              <a:rPr lang="en-US" b="1" dirty="0"/>
              <a:t>traceable answers</a:t>
            </a:r>
            <a:r>
              <a:rPr lang="en-US" dirty="0"/>
              <a:t> with source attribution</a:t>
            </a:r>
          </a:p>
          <a:p>
            <a:r>
              <a:rPr lang="en-US" b="1" dirty="0"/>
              <a:t>Non-Goals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a public chatbot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trained on open internet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replacing human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focused on model fine-tuning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26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3D62-26CA-A2DC-9F67-6619FDE1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Architecture</a:t>
            </a:r>
            <a:br>
              <a:rPr lang="en-US" b="1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BE185D-ADD2-BFB1-32A7-82BED8043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2084824"/>
            <a:ext cx="9707330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29C0-7509-6E24-722C-3891C632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Role-Based Access Control (RBAC)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26232D68-E185-98DE-1983-B65F88CCB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569024"/>
            <a:ext cx="10058400" cy="2839139"/>
          </a:xfr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0BC3BBC-DEED-5620-C19D-D2ED57AF4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1980998"/>
            <a:ext cx="10259857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0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4E1B-A7FD-9000-1AAA-D87D92B4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Hierarchy &amp; Access Scope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C9C277-4386-AF80-F625-D48AE63B4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is based on document ownership, not user intent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Departments: </a:t>
            </a:r>
            <a:r>
              <a:rPr lang="en-US" dirty="0"/>
              <a:t>Finance, HR, Engineering, Marketing</a:t>
            </a:r>
          </a:p>
          <a:p>
            <a:r>
              <a:rPr lang="en-US" b="1" dirty="0"/>
              <a:t>General: </a:t>
            </a:r>
            <a:r>
              <a:rPr lang="en-US" dirty="0"/>
              <a:t>Policies, Handbook, Company-wide info</a:t>
            </a:r>
          </a:p>
          <a:p>
            <a:endParaRPr lang="en-IN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2910EF40-C65F-5F20-3AFA-2BEE16651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718206"/>
              </p:ext>
            </p:extLst>
          </p:nvPr>
        </p:nvGraphicFramePr>
        <p:xfrm>
          <a:off x="1166762" y="2687320"/>
          <a:ext cx="583380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903">
                  <a:extLst>
                    <a:ext uri="{9D8B030D-6E8A-4147-A177-3AD203B41FA5}">
                      <a16:colId xmlns:a16="http://schemas.microsoft.com/office/drawing/2014/main" val="4187889127"/>
                    </a:ext>
                  </a:extLst>
                </a:gridCol>
                <a:gridCol w="2916903">
                  <a:extLst>
                    <a:ext uri="{9D8B030D-6E8A-4147-A177-3AD203B41FA5}">
                      <a16:colId xmlns:a16="http://schemas.microsoft.com/office/drawing/2014/main" val="83107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Access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631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C-Level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All departments + general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34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Department Roles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Own department + general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49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Employee (General)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630415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4E769E08-5054-42FB-4994-E8F16F6D4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684" y="1737360"/>
            <a:ext cx="4385186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4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6FF9-2F8A-8A50-D218-B22B026D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PIPELINE &amp; QUERY FLOW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E879E1-DBDD-081D-9A09-A488C54CF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36338"/>
            <a:ext cx="676852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From question → secure answer → cited sources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User submits a natural language query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User role is validated (JWT + RBAC)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Query is normalized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Relevant documents are retrieved (role-filtered)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Context is injected into LLM prompt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Answer is generated with 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Key Principle: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The LLM never sees unauthorized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6FE29D-8F6B-93CD-D03F-95914A10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2" y="4650658"/>
            <a:ext cx="11974596" cy="192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2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5755-51FE-B1FA-B3A0-45D6468C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SECURITY, RBAC ENFORCEMENT &amp; MISUSE PREVENTION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FB95C7-195D-A482-C960-0BBDBEAEB2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65153"/>
            <a:ext cx="554932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by Design — Not by Prompt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Multi-layer protection model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JWT-based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Control (RBAC)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Pre-LLM filtering (hard boundary)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Source attribution &amp; auditability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 Trust Principle: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role, no document, no exception.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162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539D-7C2E-B6F3-DE59-FF2A2335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STRATEGY &amp; ROLE VALIDATION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09B006-6EFF-BE31-CA64-6621CEEC8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95821"/>
            <a:ext cx="40154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We Tested the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Multi-angle validation approach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Role-based access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Cross-department misuse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Query ambiguity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LLM misuse &amp; prompt injection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Retrieval relevance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focus: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Correct answers are useless if access is wrong.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BB76185-29F4-4AB7-F6B7-8D3715EA8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023052"/>
              </p:ext>
            </p:extLst>
          </p:nvPr>
        </p:nvGraphicFramePr>
        <p:xfrm>
          <a:off x="5181600" y="2172929"/>
          <a:ext cx="6351642" cy="364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214">
                  <a:extLst>
                    <a:ext uri="{9D8B030D-6E8A-4147-A177-3AD203B41FA5}">
                      <a16:colId xmlns:a16="http://schemas.microsoft.com/office/drawing/2014/main" val="2438252975"/>
                    </a:ext>
                  </a:extLst>
                </a:gridCol>
                <a:gridCol w="2117214">
                  <a:extLst>
                    <a:ext uri="{9D8B030D-6E8A-4147-A177-3AD203B41FA5}">
                      <a16:colId xmlns:a16="http://schemas.microsoft.com/office/drawing/2014/main" val="1913077529"/>
                    </a:ext>
                  </a:extLst>
                </a:gridCol>
                <a:gridCol w="2117214">
                  <a:extLst>
                    <a:ext uri="{9D8B030D-6E8A-4147-A177-3AD203B41FA5}">
                      <a16:colId xmlns:a16="http://schemas.microsoft.com/office/drawing/2014/main" val="3535407664"/>
                    </a:ext>
                  </a:extLst>
                </a:gridCol>
              </a:tblGrid>
              <a:tr h="601406"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Expected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05174"/>
                  </a:ext>
                </a:extLst>
              </a:tr>
              <a:tr h="601406">
                <a:tc>
                  <a:txBody>
                    <a:bodyPr/>
                    <a:lstStyle/>
                    <a:p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“Show salaries”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❌ Blocked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265023"/>
                  </a:ext>
                </a:extLst>
              </a:tr>
              <a:tr h="601406">
                <a:tc>
                  <a:txBody>
                    <a:bodyPr/>
                    <a:lstStyle/>
                    <a:p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“Performance ratings”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871306"/>
                  </a:ext>
                </a:extLst>
              </a:tr>
              <a:tr h="601406">
                <a:tc>
                  <a:txBody>
                    <a:bodyPr/>
                    <a:lstStyle/>
                    <a:p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“HR records”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❌ Blocked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831699"/>
                  </a:ext>
                </a:extLst>
              </a:tr>
              <a:tr h="601406">
                <a:tc>
                  <a:txBody>
                    <a:bodyPr/>
                    <a:lstStyle/>
                    <a:p>
                      <a:r>
                        <a:rPr lang="en-IN"/>
                        <a:t>C-Level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“All departments”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✅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136276"/>
                  </a:ext>
                </a:extLst>
              </a:tr>
              <a:tr h="601406">
                <a:tc>
                  <a:txBody>
                    <a:bodyPr/>
                    <a:lstStyle/>
                    <a:p>
                      <a:r>
                        <a:rPr lang="en-IN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81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2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E61D-9AC1-89F5-4F69-2B3E6CA8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EXPERIENCE &amp; DEMO FLOW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ED231D-F37A-6210-1706-B85DC1AF9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65153"/>
            <a:ext cx="588827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-Based Secure Chat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Designed for clarity, not complexity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🔐 Login with role-based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🧑‍💼 Role visibility on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💬 Conversational chat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📄 Source-backed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🧾 Transparent citations per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Same system. Different experience per role.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C8D228-24AC-1FFE-3BC1-F4481A44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47" y="2004861"/>
            <a:ext cx="2238687" cy="415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6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F071-4DEB-B784-B905-D5431A17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PERFORMANCE, LATENCY &amp; SCALABILITY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D88CE2-0C8A-EAD8-1AA3-4DD351FD63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6106" y="2355656"/>
            <a:ext cx="74666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Characteristics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Designed for fast, secure internal usage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⚡ Vector search latency: sub-500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🧠 LLM call isolated to final step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📦 Batched embeddings &amp; indexed chunks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🔁 Stateless backend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checks add negligible overhead.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01712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F2D7-1E03-11CC-92A6-FA22A18A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DESIGN TRADE-OFFS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9AC547-2F72-394E-5291-D28BD6B500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095821"/>
            <a:ext cx="56476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Challenges Encountered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🔐 Enforcing RBAC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LLM invocation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📄 Handling mixed document formats (MD + CSV)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🧠 Preventing over-retrieval across departments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🤖 LLM quota &amp; provider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🧪 Testing misuse and edge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Every design decision involved a trade-off.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CA365-144D-936C-A230-7E892E99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2" y="1910183"/>
            <a:ext cx="5430008" cy="415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37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BD81-380E-51E5-CD5A-49280C34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 &amp;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379B4B-D817-1FEE-38EC-66E72EF358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34375"/>
            <a:ext cx="916148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Can Be Extended Next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🧠 Advanced query normalization &amp; intent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🗂️ Cross-department shared document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📊 Analytics on query patterns &amp; access attempts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🔁 Feedback loop for retrieval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🧩 Plug-in support for more LLMs (open-source, on-prem)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as a foundation, not a one-off.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3978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E012-F09D-830D-84D5-E67759D2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KEY TAKEAWAYS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21D674-AD3F-ADF3-90D2-4904BB394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18931"/>
            <a:ext cx="686918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This Project Demonstrates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Secure, role-aware information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RAG-based answers grounded in real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Strict RBAC enforced before AI reasoning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Transparent, auditable responses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Modular, extensible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not a chatbot demo —</a:t>
            </a:r>
            <a:b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it’s a secure internal knowledge system.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4864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94BD-2545-9196-8D14-28C930A7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&amp;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9899-D9C6-7E60-0490-B1841E51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84680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76</TotalTime>
  <Words>938</Words>
  <Application>Microsoft Office PowerPoint</Application>
  <PresentationFormat>Widescreen</PresentationFormat>
  <Paragraphs>143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Franklin Gothic Book</vt:lpstr>
      <vt:lpstr>Franklin Gothic Book (Body)</vt:lpstr>
      <vt:lpstr>1_RetrospectVTI</vt:lpstr>
      <vt:lpstr>Company Internal Chatbot with RBAC Secure Retrieval-Augmented Generation System</vt:lpstr>
      <vt:lpstr>Project Overview</vt:lpstr>
      <vt:lpstr>Project Objectives</vt:lpstr>
      <vt:lpstr>High-Level Architecture </vt:lpstr>
      <vt:lpstr>Role-Based Access Control (RBAC)</vt:lpstr>
      <vt:lpstr>Role Hierarchy &amp; Access Scope</vt:lpstr>
      <vt:lpstr>RAG PIPELINE &amp; QUERY FLOW</vt:lpstr>
      <vt:lpstr>SECURITY, RBAC ENFORCEMENT &amp; MISUSE PREVENTION</vt:lpstr>
      <vt:lpstr>TESTING STRATEGY &amp; ROLE VALIDATION</vt:lpstr>
      <vt:lpstr>FRONTEND EXPERIENCE &amp; DEMO FLOW</vt:lpstr>
      <vt:lpstr>PERFORMANCE, LATENCY &amp; SCALABILITY</vt:lpstr>
      <vt:lpstr>CHALLENGES &amp; DESIGN TRADE-OFFS</vt:lpstr>
      <vt:lpstr>FUTURE SCOPE &amp; ENHANCEMENTS</vt:lpstr>
      <vt:lpstr>CONCLUSION &amp; KEY TAKEAWAYS</vt:lpstr>
      <vt:lpstr>THANK YOU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Internal Chatbot with RBAC Secure Retrieval-Augmented Generation System</dc:title>
  <dc:creator>Sai Kumar Garlapati</dc:creator>
  <cp:lastModifiedBy>Sai Kumar Garlapati</cp:lastModifiedBy>
  <cp:revision>6</cp:revision>
  <dcterms:created xsi:type="dcterms:W3CDTF">2026-01-19T14:46:24Z</dcterms:created>
  <dcterms:modified xsi:type="dcterms:W3CDTF">2026-01-19T16:04:22Z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